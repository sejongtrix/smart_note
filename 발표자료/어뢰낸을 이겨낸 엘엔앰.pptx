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4" r:id="rId6"/>
    <p:sldId id="261" r:id="rId7"/>
    <p:sldId id="262" r:id="rId8"/>
    <p:sldId id="263" r:id="rId9"/>
    <p:sldId id="260" r:id="rId10"/>
    <p:sldId id="265" r:id="rId11"/>
    <p:sldId id="266" r:id="rId12"/>
    <p:sldId id="284" r:id="rId13"/>
    <p:sldId id="285" r:id="rId14"/>
    <p:sldId id="286" r:id="rId15"/>
    <p:sldId id="283" r:id="rId16"/>
    <p:sldId id="278" r:id="rId17"/>
    <p:sldId id="280" r:id="rId18"/>
    <p:sldId id="28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6753B-C60D-4A5A-801F-E47961052E80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6DFDC8-05C8-4B59-BA22-51DA6AD1B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66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6DFDC8-05C8-4B59-BA22-51DA6AD1BC0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8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CC36C-8F90-FC0C-1915-2A08F560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03D2C4-C263-013D-B65C-C760FEC88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6C565A-F303-0C2B-CCE1-232696B3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AA0588-9B27-2660-A2F2-3FC6239FA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FFD5D-E526-754E-B60E-420DC77E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40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740BD-04C6-7801-2A10-041F22A6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12268-E3FF-B854-BDA6-495981DF4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24E32-E5E1-2A6A-D605-254CCCFBD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BF69FF-7BC5-C43E-4F5A-2C2AF28C7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178F6-244E-9A87-269B-2D88E2539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1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E801AD-15AB-9BE1-5A7E-A7B10B472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1BE8F2-D121-88B0-8D3F-2B5DCE8D5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45ACA8-0793-13EA-FC1F-F553B0F82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CE044-DA69-72B7-9C7B-87356B26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C88DF1-E1E9-A56D-1813-DDDF2417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5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91E2D2-B687-FF0D-AF32-495E0488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8736F-4A7B-34C2-1C1A-566B11C77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579459-3129-1CBC-0D93-26A488740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19C5D9-9295-7200-878C-DEA860A8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E62C49-7570-163F-C06B-121BA58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E8BE0E-AF3B-DBCC-F21B-B052ABA1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266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E2CB5D-3084-6BFA-1AE7-4947298B7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D691D9-CA8B-6714-DB7B-42948AFAD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E826EB-A070-7156-DD4B-73F5451CC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950B119-879D-42C1-FD86-4E913B2F38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2CD1C2-66DD-0D15-B889-53CD2D10E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1D431E-CE88-5213-F510-BD8B5DF45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AC3286-27FC-3286-5544-AA8AA732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731D81-32C5-3238-6D8E-EBCD36CA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87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ABCC2-1504-7288-4A09-D2B4E2DE8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E4E6DBC-45B8-8755-95B6-CAC92FB74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BCD412-8F0B-2701-62F7-C411D7D94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731D14-078B-4477-986C-6421F541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57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621960-B0D4-B61D-F374-496EA6279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BAD673-E6EC-6994-2708-F01E17A2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816666-CFB4-883F-45B2-FF324FCB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30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78596-4D50-1D95-99A7-D33BBCB9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953F2E-3A1E-4663-D699-798BA1DEC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6C4983-D98E-95BA-7171-CB879E1E6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ECAA0D-92A2-25E7-E912-08FF650C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C9CDE9-0136-70AD-5A69-ABD180B0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C173A4-9B29-1423-C9DF-B7548AFB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77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41FC9-6012-CB18-674D-89B43BAF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3E6BCF-CBD9-ECF6-BD60-ACBC7DE55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B375FF-0671-9B00-C18B-2F354932B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5D3F01-D018-05E5-BC59-B84D0411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F1955-0D21-7E1C-8C2B-D76B2B2AE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587C1F-D2E7-A26C-BF7F-9FC34D9C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65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734C2B-E906-7B19-D8D1-1DB02FE6A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6166D5-F44E-F3F8-3C28-B1C1D1DA5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364842-B5CA-91A3-8D03-6A136ED8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EDE03-75B3-3597-6AFF-4A5E2F0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03FC80-74E7-BAF0-B087-8949221C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12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55BB82-EF71-5668-826B-D285F55398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55A7A1-E3BC-B156-6145-B6EAE8788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AB11BD-1111-C081-654E-E2BD60F6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8AC9AC-E32F-FA85-7362-2801963C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A79AEB-234D-BC39-A719-2DC35CEB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90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A24D0B-5597-F696-F833-B27A75FC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3F56FE-7664-C4B9-B26A-97E8DF3ED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E47685-3A2C-B81C-9F1B-DC63B9EA58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23E08-C7F6-4931-8504-D6783202279F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275BE-1B44-B7B4-5B85-115E5D4BB6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A6E8AA-AA31-A0D7-F91D-A15B51B18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CFE60-6EF1-45FE-A6AE-79EB096176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11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localhost:5000/run-forecas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62C4C-B270-2EF7-57B1-04B0716F4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어뢰낸을</a:t>
            </a:r>
            <a:r>
              <a:rPr lang="ko-KR" altLang="en-US" dirty="0"/>
              <a:t> 이겨낸 </a:t>
            </a:r>
            <a:r>
              <a:rPr lang="ko-KR" altLang="en-US" dirty="0" err="1"/>
              <a:t>엘엔앰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DBE052-8EE8-4FEB-FD94-060704ECA1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947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8A619-9125-10B9-4CB0-CCF4292A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E3CC8C-BD55-EF2F-B4D8-19E087518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ko-KR" altLang="en-US" dirty="0"/>
              <a:t>동영상 장면 변환 탐지 기반으로 강의 동영상 페이지 변환 인식 개선</a:t>
            </a:r>
            <a:endParaRPr lang="en-US" altLang="ko-KR" dirty="0"/>
          </a:p>
          <a:p>
            <a:r>
              <a:rPr lang="en-US" altLang="ko-KR" dirty="0"/>
              <a:t>LLM</a:t>
            </a:r>
            <a:r>
              <a:rPr lang="ko-KR" altLang="en-US" dirty="0"/>
              <a:t>을 활용한 통합</a:t>
            </a:r>
            <a:endParaRPr lang="en-US" altLang="ko-KR" dirty="0"/>
          </a:p>
          <a:p>
            <a:r>
              <a:rPr lang="ko-KR" altLang="en-US" dirty="0"/>
              <a:t>로컬에서의 구동</a:t>
            </a:r>
          </a:p>
        </p:txBody>
      </p:sp>
    </p:spTree>
    <p:extLst>
      <p:ext uri="{BB962C8B-B14F-4D97-AF65-F5344CB8AC3E}">
        <p14:creationId xmlns:p14="http://schemas.microsoft.com/office/powerpoint/2010/main" val="2755765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EF01505-A38E-CAFF-0815-CC2D4EDF49E3}"/>
              </a:ext>
            </a:extLst>
          </p:cNvPr>
          <p:cNvSpPr txBox="1">
            <a:spLocks/>
          </p:cNvSpPr>
          <p:nvPr/>
        </p:nvSpPr>
        <p:spPr>
          <a:xfrm>
            <a:off x="4654296" y="329184"/>
            <a:ext cx="6894576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spcAft>
                <a:spcPts val="600"/>
              </a:spcAft>
            </a:pPr>
            <a:r>
              <a:rPr lang="ko-KR" altLang="en-US" sz="3800" dirty="0"/>
              <a:t>동영상 장면 변환 탐지 기반으로 강의 동영상 페이지 변환 인식 개선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0D2F786-668D-25F7-F0A0-9E8D5A3C8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2" r="3" b="3207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5AE8E-8801-7DAA-0C0F-4C88B409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200"/>
              <a:t>현재 코드는 픽셀 단위로 매 프레임마다 변화도를 측정하다 급격하게 변화가 되면</a:t>
            </a:r>
            <a:r>
              <a:rPr lang="en-US" altLang="ko-KR" sz="2200"/>
              <a:t>, </a:t>
            </a:r>
            <a:r>
              <a:rPr lang="ko-KR" altLang="en-US" sz="2200"/>
              <a:t>그 때 강의 교안과 해당 동영상 강의를 비교하며 유사도 기반으로 페이지 할당하는 방식으로 되어있음</a:t>
            </a:r>
            <a:endParaRPr lang="en-US" altLang="ko-KR" sz="2200"/>
          </a:p>
          <a:p>
            <a:pPr latinLnBrk="0"/>
            <a:r>
              <a:rPr lang="en-US" altLang="ko-KR" sz="2200"/>
              <a:t>1(</a:t>
            </a:r>
            <a:r>
              <a:rPr lang="ko-KR" altLang="en-US" sz="2200"/>
              <a:t>앞</a:t>
            </a:r>
            <a:r>
              <a:rPr lang="en-US" altLang="ko-KR" sz="2200"/>
              <a:t>,</a:t>
            </a:r>
            <a:r>
              <a:rPr lang="ko-KR" altLang="en-US" sz="2200"/>
              <a:t>뒤 장면탐지</a:t>
            </a:r>
            <a:r>
              <a:rPr lang="en-US" altLang="ko-KR" sz="2200"/>
              <a:t>), 2</a:t>
            </a:r>
            <a:r>
              <a:rPr lang="ko-KR" altLang="en-US" sz="2200"/>
              <a:t>차 탐지 도입</a:t>
            </a:r>
            <a:r>
              <a:rPr lang="en-US" altLang="ko-KR" sz="2200"/>
              <a:t>(20</a:t>
            </a:r>
            <a:r>
              <a:rPr lang="ko-KR" altLang="en-US" sz="2200"/>
              <a:t>장면</a:t>
            </a:r>
            <a:r>
              <a:rPr lang="en-US" altLang="ko-KR" sz="2200"/>
              <a:t>+-</a:t>
            </a:r>
            <a:r>
              <a:rPr lang="ko-KR" altLang="en-US" sz="2200"/>
              <a:t>탐지</a:t>
            </a:r>
            <a:r>
              <a:rPr lang="en-US" altLang="ko-KR" sz="2200"/>
              <a:t>)</a:t>
            </a:r>
          </a:p>
          <a:p>
            <a:pPr latinLnBrk="0"/>
            <a:r>
              <a:rPr lang="ko-KR" altLang="en-US" sz="2200"/>
              <a:t>탐지 로직에서 변화도를 이전과 비교하여 상대적으로 판단하게 수정</a:t>
            </a:r>
            <a:r>
              <a:rPr lang="en-US" altLang="ko-KR" sz="2200"/>
              <a:t>. (</a:t>
            </a:r>
            <a:r>
              <a:rPr lang="ko-KR" altLang="en-US" sz="2200"/>
              <a:t>이전 장면보다 </a:t>
            </a:r>
            <a:r>
              <a:rPr lang="en-US" altLang="ko-KR" sz="2200"/>
              <a:t>1%</a:t>
            </a:r>
            <a:r>
              <a:rPr lang="ko-KR" altLang="en-US" sz="2200"/>
              <a:t>이상 급격하게 유사도가 추락할 때 작동</a:t>
            </a:r>
            <a:r>
              <a:rPr lang="en-US" altLang="ko-KR" sz="2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3186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1A217-65AC-1876-E391-20692813E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동영상 장면 변환 탐지 기반으로 강의 동영상 페이지 변환 인식 개선 보충할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6F7B3-29A1-7258-C1CA-F20534885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/>
          </a:bodyPr>
          <a:lstStyle/>
          <a:p>
            <a:r>
              <a:rPr lang="en-US" altLang="ko-KR" dirty="0"/>
              <a:t>Early stop</a:t>
            </a:r>
            <a:r>
              <a:rPr lang="ko-KR" altLang="en-US" dirty="0"/>
              <a:t>을 도입하고 싶었으나 강의 중간에 동영상을 틀거나</a:t>
            </a:r>
            <a:r>
              <a:rPr lang="en-US" altLang="ko-KR" dirty="0"/>
              <a:t>, </a:t>
            </a:r>
            <a:r>
              <a:rPr lang="ko-KR" altLang="en-US" dirty="0"/>
              <a:t>판서 같은 것을 할 때 조기 종료 할 수도 있어 보류함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강의 중간에 교안에 없는 동영상을 재생할 때 현재 코드에서 걸리는 시간은 기하급수적으로 늚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 테스트 동영상은 실습 영상도 포함되어 있어 강의 교안에 없는 내용도 있는데 이 부분을 처리하지 못함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현재 변화를 탐지할 때 유사도가 </a:t>
            </a:r>
            <a:r>
              <a:rPr lang="en-US" altLang="ko-KR" dirty="0"/>
              <a:t>1%</a:t>
            </a:r>
            <a:r>
              <a:rPr lang="ko-KR" altLang="en-US" dirty="0"/>
              <a:t>가 변할 때 탐지하게 매우 민감하게 설정되어 있는데 여러 테스트를 해보며 상황에 따라 적절하게 파라미터를 능동적으로 수정할 수 있는 알고리즘이 필요함</a:t>
            </a:r>
            <a:r>
              <a:rPr lang="en-US" altLang="ko-KR" dirty="0"/>
              <a:t>. (</a:t>
            </a:r>
            <a:r>
              <a:rPr lang="ko-KR" altLang="en-US" dirty="0"/>
              <a:t>강의 교안만 있는 동영상</a:t>
            </a:r>
            <a:r>
              <a:rPr lang="en-US" altLang="ko-KR" dirty="0"/>
              <a:t>, </a:t>
            </a:r>
            <a:r>
              <a:rPr lang="ko-KR" altLang="en-US" dirty="0"/>
              <a:t>사람과 강의 교안이 같이 나오는 동영상</a:t>
            </a:r>
            <a:r>
              <a:rPr lang="en-US" altLang="ko-KR" dirty="0"/>
              <a:t>, </a:t>
            </a:r>
            <a:r>
              <a:rPr lang="ko-KR" altLang="en-US" dirty="0"/>
              <a:t>동영상에서 나오는 강의 교안 크기에 따른 변화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659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E48D-1386-A9C8-BC9E-058A0E6D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3691C-DE45-DC84-A044-43D8CA84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대사 스크립트와 강의 교안을 </a:t>
            </a:r>
            <a:r>
              <a:rPr lang="en-US" altLang="ko-KR" sz="4000" dirty="0"/>
              <a:t>gemma3:12b</a:t>
            </a:r>
            <a:r>
              <a:rPr lang="ko-KR" altLang="en-US" sz="4000" dirty="0"/>
              <a:t>에 넣고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AC2AE7-4457-E5B2-E5D5-0C3BB1CE2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62964"/>
            <a:ext cx="10515600" cy="2913999"/>
          </a:xfrm>
        </p:spPr>
        <p:txBody>
          <a:bodyPr/>
          <a:lstStyle/>
          <a:p>
            <a:r>
              <a:rPr lang="ko-KR" altLang="en-US" dirty="0"/>
              <a:t>여러 실험을 거치며 만들어낸 프롬프트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971F09-F508-A08B-FD86-0F517F3C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46020"/>
            <a:ext cx="885825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34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EEEBA-67EB-A6A5-F817-A52A5FB70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58B9DD-7EB5-E57C-9165-AACBB51F2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대사 스크립트에 잘려 나온 그대로 </a:t>
            </a:r>
            <a:r>
              <a:rPr lang="ko-KR" altLang="en-US" dirty="0" err="1"/>
              <a:t>넣어봄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D5503E-E7F8-6134-5F83-88F0EDFF9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0688"/>
            <a:ext cx="11353800" cy="452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2D7E9-4D26-4BF0-F362-CA90E361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234F7D-A5BE-4B9B-6B6A-FA735B2CB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아래와 같이 엄청 짧은 단어단위도 존재함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E7648F9-A9EA-52AF-2416-1F843DDD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2312"/>
            <a:ext cx="12192000" cy="460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5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87BD9-B446-1A56-7A4A-B9AEAE83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CA6F12-3127-3FEA-771E-97684F6B9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아래에서 </a:t>
            </a:r>
            <a:r>
              <a:rPr lang="ko-KR" altLang="en-US" sz="2000" dirty="0">
                <a:highlight>
                  <a:srgbClr val="FFFF00"/>
                </a:highlight>
              </a:rPr>
              <a:t>거짓말을 </a:t>
            </a:r>
            <a:r>
              <a:rPr lang="ko-KR" altLang="en-US" sz="2000" dirty="0" err="1">
                <a:highlight>
                  <a:srgbClr val="FFFF00"/>
                </a:highlight>
              </a:rPr>
              <a:t>하는것과</a:t>
            </a:r>
            <a:r>
              <a:rPr lang="ko-KR" altLang="en-US" sz="2000" dirty="0">
                <a:highlight>
                  <a:srgbClr val="FFFF00"/>
                </a:highlight>
              </a:rPr>
              <a:t> </a:t>
            </a:r>
            <a:r>
              <a:rPr lang="ko-KR" altLang="en-US" sz="2000" dirty="0"/>
              <a:t>저번 변환에서 </a:t>
            </a:r>
            <a:r>
              <a:rPr lang="ko-KR" altLang="en-US" sz="2000" dirty="0" err="1">
                <a:highlight>
                  <a:srgbClr val="00FF00"/>
                </a:highlight>
              </a:rPr>
              <a:t>잘못된것이</a:t>
            </a:r>
            <a:r>
              <a:rPr lang="ko-KR" altLang="en-US" sz="2000" dirty="0"/>
              <a:t> 그대로 </a:t>
            </a:r>
            <a:r>
              <a:rPr lang="ko-KR" altLang="en-US" sz="2000" dirty="0" err="1"/>
              <a:t>반영된것을</a:t>
            </a:r>
            <a:r>
              <a:rPr lang="ko-KR" altLang="en-US" sz="2000" dirty="0"/>
              <a:t> 볼 수 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E2A625-8065-BE78-9C78-67577DF3A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0813"/>
            <a:ext cx="12192000" cy="456718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BFB0918-988E-79B7-AC00-50535E005A55}"/>
              </a:ext>
            </a:extLst>
          </p:cNvPr>
          <p:cNvSpPr/>
          <p:nvPr/>
        </p:nvSpPr>
        <p:spPr>
          <a:xfrm>
            <a:off x="-76200" y="3185160"/>
            <a:ext cx="11083834" cy="34181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D34605-56C1-2F0D-D6A9-99C10BF1760A}"/>
              </a:ext>
            </a:extLst>
          </p:cNvPr>
          <p:cNvSpPr/>
          <p:nvPr/>
        </p:nvSpPr>
        <p:spPr>
          <a:xfrm>
            <a:off x="2699658" y="4887685"/>
            <a:ext cx="2534193" cy="2503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579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29C30-91CD-5440-4C64-CA8E619F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대사 스크립트와 강의 교안을 </a:t>
            </a:r>
            <a:r>
              <a:rPr lang="en-US" altLang="ko-KR" sz="4000" dirty="0"/>
              <a:t>gemma3:12b</a:t>
            </a:r>
            <a:r>
              <a:rPr lang="ko-KR" altLang="en-US" sz="4000" dirty="0"/>
              <a:t>에 넣고 요약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25C7EDE7-0151-99A4-86B8-11640FEA8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각 페이지마다 대사 스크립트를 묶어서 넣음</a:t>
            </a:r>
            <a:r>
              <a:rPr lang="en-US" altLang="ko-KR" dirty="0"/>
              <a:t> </a:t>
            </a:r>
            <a:r>
              <a:rPr lang="ko-KR" altLang="en-US" dirty="0"/>
              <a:t>아래는 </a:t>
            </a:r>
            <a:r>
              <a:rPr lang="en-US" altLang="ko-KR" dirty="0"/>
              <a:t>1</a:t>
            </a:r>
            <a:r>
              <a:rPr lang="ko-KR" altLang="en-US" dirty="0"/>
              <a:t>페이지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91C2E29-B1DE-39EB-22F8-5804C9D78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487" y="5128168"/>
            <a:ext cx="4096452" cy="149306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1C2E1AC-AFE3-7D6A-035D-D8B6E2F75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591911"/>
            <a:ext cx="4058011" cy="2536257"/>
          </a:xfrm>
          <a:prstGeom prst="rect">
            <a:avLst/>
          </a:prstGeom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4754D55C-8A96-783A-807E-96283875D745}"/>
              </a:ext>
            </a:extLst>
          </p:cNvPr>
          <p:cNvSpPr/>
          <p:nvPr/>
        </p:nvSpPr>
        <p:spPr>
          <a:xfrm>
            <a:off x="7023234" y="3429000"/>
            <a:ext cx="401694" cy="5173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7756DDA-AC52-8228-9A6F-7D480C1C3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05" y="2349199"/>
            <a:ext cx="6629882" cy="41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46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081C4B-D7E8-F87C-46DA-8DBC1EC89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EF2320-A8D5-767C-9576-A0948F516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451" y="1763512"/>
            <a:ext cx="7566980" cy="47293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2B85CE-39AA-DF91-0E62-3FAFEA7D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28" y="2056355"/>
            <a:ext cx="3850106" cy="4143676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8A128E9E-36C6-6824-7F07-75462560D1F5}"/>
              </a:ext>
            </a:extLst>
          </p:cNvPr>
          <p:cNvSpPr/>
          <p:nvPr/>
        </p:nvSpPr>
        <p:spPr>
          <a:xfrm>
            <a:off x="4004109" y="3605296"/>
            <a:ext cx="282342" cy="375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1C13E85-FCD7-4BBF-B09C-BE3E9626B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142" y="270452"/>
            <a:ext cx="3918857" cy="14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401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FD2EBF-2A4F-534F-9B21-AA6B3372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C72C98-ED79-2559-9CCE-272A6BD9D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페이지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F71909F-E3D0-FADF-D459-7B25BBA9F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8110"/>
            <a:ext cx="7247823" cy="452988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B208D49-E686-5901-A7A8-2A2FE84A1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5457" y="1690688"/>
            <a:ext cx="4440806" cy="245121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1B4EAC-8DA0-C840-269B-BB44A2E7F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458" y="4150004"/>
            <a:ext cx="4440806" cy="263491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15378A-A1DE-1B3F-DD99-70E4A87D7909}"/>
              </a:ext>
            </a:extLst>
          </p:cNvPr>
          <p:cNvSpPr/>
          <p:nvPr/>
        </p:nvSpPr>
        <p:spPr>
          <a:xfrm>
            <a:off x="2699657" y="3640183"/>
            <a:ext cx="243840" cy="2264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3AB78CE-6D6E-556E-D5A0-B21E7C7E407D}"/>
              </a:ext>
            </a:extLst>
          </p:cNvPr>
          <p:cNvSpPr/>
          <p:nvPr/>
        </p:nvSpPr>
        <p:spPr>
          <a:xfrm>
            <a:off x="2943497" y="5155474"/>
            <a:ext cx="775063" cy="16546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921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1E2CA-BE0C-1EC6-CA4F-DF677E044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1CC52-6A07-32B1-CAE5-A33442FC6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03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매우 놀라운 일이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일어남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Rnn</a:t>
            </a:r>
            <a:r>
              <a:rPr lang="ko-KR" altLang="en-US" dirty="0"/>
              <a:t>의 등장이라고 앞에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서 실패했던 </a:t>
            </a:r>
            <a:r>
              <a:rPr lang="en-US" altLang="ko-KR" dirty="0" err="1"/>
              <a:t>rnn</a:t>
            </a:r>
            <a:r>
              <a:rPr lang="ko-KR" altLang="en-US" dirty="0"/>
              <a:t>의 제한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을 교정함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 err="1"/>
              <a:t>어뢰넨</a:t>
            </a:r>
            <a:r>
              <a:rPr lang="ko-KR" altLang="en-US" dirty="0"/>
              <a:t> 이야기도 사라짐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그러나 앞에서 이야기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했던 </a:t>
            </a:r>
            <a:r>
              <a:rPr lang="ko-KR" altLang="en-US" dirty="0" err="1"/>
              <a:t>기계번역같은것은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교안에 없어 사라짐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70C382-F32F-E001-9CC8-E3EA95C1F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211" y="1806031"/>
            <a:ext cx="7384868" cy="46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76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54E6D-949D-84D7-3F53-74F0B8B9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 취약점 </a:t>
            </a:r>
            <a:r>
              <a:rPr lang="en-US" altLang="ko-KR" dirty="0"/>
              <a:t>(</a:t>
            </a:r>
            <a:r>
              <a:rPr lang="ko-KR" altLang="en-US" dirty="0"/>
              <a:t>매우 </a:t>
            </a:r>
            <a:r>
              <a:rPr lang="ko-KR" altLang="en-US" dirty="0" err="1"/>
              <a:t>길때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4BA4BAFE-3B15-A06F-DCD7-413DC9892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690688"/>
            <a:ext cx="6962140" cy="516731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B5681DE-C3B8-5AE1-9539-3FB337AFA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140" y="1650733"/>
            <a:ext cx="5022388" cy="253154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48FA68C-13FB-DBD2-EED2-594E9D965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140" y="4274344"/>
            <a:ext cx="4088811" cy="255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90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B3B93-A8CD-50E5-7D7E-5F74736B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대사 스크립트와 강의 교안을 </a:t>
            </a:r>
            <a:r>
              <a:rPr lang="en-US" altLang="ko-KR" dirty="0"/>
              <a:t>gemma3:12b</a:t>
            </a:r>
            <a:r>
              <a:rPr lang="ko-KR" altLang="en-US" dirty="0"/>
              <a:t>에 넣고 요약 취약점 </a:t>
            </a:r>
            <a:r>
              <a:rPr lang="en-US" altLang="ko-KR" dirty="0"/>
              <a:t>(</a:t>
            </a:r>
            <a:r>
              <a:rPr lang="ko-KR" altLang="en-US" dirty="0"/>
              <a:t>매우 </a:t>
            </a:r>
            <a:r>
              <a:rPr lang="ko-KR" altLang="en-US" dirty="0" err="1"/>
              <a:t>길때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6F062C-C318-BD58-EF67-B5D84C2D7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다음과 같이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처음 제시했던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시스템 프롬프트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ko-KR" altLang="en-US" dirty="0"/>
              <a:t>사고과정을 제한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해달라고 했던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프롬프트가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무시되는 경향을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보임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9EC372-8980-9549-8817-3D92DD15D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1" y="1690688"/>
            <a:ext cx="826769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045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5386D-D6BA-4BBA-12FD-586165CF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7E919-1610-BD6B-B526-0078D7F9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 flow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417194-E665-6908-E122-8CBA7AA7A133}"/>
              </a:ext>
            </a:extLst>
          </p:cNvPr>
          <p:cNvSpPr/>
          <p:nvPr/>
        </p:nvSpPr>
        <p:spPr>
          <a:xfrm>
            <a:off x="10014856" y="2328038"/>
            <a:ext cx="2177143" cy="14347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Ai </a:t>
            </a:r>
            <a:r>
              <a:rPr lang="ko-KR" altLang="en-US" dirty="0"/>
              <a:t>모델용 데스크탑</a:t>
            </a:r>
            <a:endParaRPr lang="en-US" altLang="ko-KR" dirty="0"/>
          </a:p>
          <a:p>
            <a:pPr algn="ctr"/>
            <a:r>
              <a:rPr lang="en-US" altLang="ko-KR" dirty="0"/>
              <a:t>5070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5680BB8-2425-7A98-9326-A5C8D19269F5}"/>
              </a:ext>
            </a:extLst>
          </p:cNvPr>
          <p:cNvSpPr/>
          <p:nvPr/>
        </p:nvSpPr>
        <p:spPr>
          <a:xfrm>
            <a:off x="435429" y="2112464"/>
            <a:ext cx="2978331" cy="43804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스마트 </a:t>
            </a:r>
            <a:r>
              <a:rPr lang="ko-KR" altLang="en-US" dirty="0" err="1"/>
              <a:t>노트앱</a:t>
            </a:r>
            <a:endParaRPr lang="ko-KR" altLang="en-US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6A13A095-84DA-4D46-C8F0-81ABF889FBA9}"/>
              </a:ext>
            </a:extLst>
          </p:cNvPr>
          <p:cNvSpPr/>
          <p:nvPr/>
        </p:nvSpPr>
        <p:spPr>
          <a:xfrm>
            <a:off x="3483429" y="2277928"/>
            <a:ext cx="2725782" cy="607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Curl</a:t>
            </a:r>
            <a:r>
              <a:rPr lang="ko-KR" altLang="en-US" dirty="0"/>
              <a:t>로 값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7FCC8-BB4E-0500-D2B0-F4C8D2D9E01E}"/>
              </a:ext>
            </a:extLst>
          </p:cNvPr>
          <p:cNvSpPr txBox="1"/>
          <p:nvPr/>
        </p:nvSpPr>
        <p:spPr>
          <a:xfrm>
            <a:off x="435429" y="1337977"/>
            <a:ext cx="10221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curl -X POST </a:t>
            </a:r>
            <a:r>
              <a:rPr lang="en-US" altLang="ko-KR" dirty="0">
                <a:hlinkClick r:id="rId2"/>
              </a:rPr>
              <a:t>http://localhost:5000/run-forecast</a:t>
            </a:r>
            <a:endParaRPr lang="en-US" altLang="ko-KR" dirty="0"/>
          </a:p>
          <a:p>
            <a:r>
              <a:rPr lang="en-US" altLang="ko-KR" dirty="0"/>
              <a:t>-H "Content-Type: application/</a:t>
            </a:r>
            <a:r>
              <a:rPr lang="en-US" altLang="ko-KR" dirty="0" err="1"/>
              <a:t>json</a:t>
            </a:r>
            <a:r>
              <a:rPr lang="en-US" altLang="ko-KR" dirty="0"/>
              <a:t>" -d "{\"</a:t>
            </a:r>
            <a:r>
              <a:rPr lang="en-US" altLang="ko-KR" dirty="0" err="1"/>
              <a:t>string_value</a:t>
            </a:r>
            <a:r>
              <a:rPr lang="en-US" altLang="ko-KR" dirty="0"/>
              <a:t>\":\"</a:t>
            </a:r>
            <a:r>
              <a:rPr lang="ko-KR" altLang="en-US" dirty="0"/>
              <a:t>안녕하세요</a:t>
            </a:r>
            <a:r>
              <a:rPr lang="en-US" altLang="ko-KR" dirty="0"/>
              <a:t>?\", \"</a:t>
            </a:r>
            <a:r>
              <a:rPr lang="en-US" altLang="ko-KR" dirty="0" err="1"/>
              <a:t>int_value</a:t>
            </a:r>
            <a:r>
              <a:rPr lang="en-US" altLang="ko-KR" dirty="0"/>
              <a:t>\":123}"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A8F700C4-46BB-410F-9F23-DB30EFBCCC43}"/>
              </a:ext>
            </a:extLst>
          </p:cNvPr>
          <p:cNvSpPr/>
          <p:nvPr/>
        </p:nvSpPr>
        <p:spPr>
          <a:xfrm rot="10800000">
            <a:off x="3483429" y="2995296"/>
            <a:ext cx="5566952" cy="607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1C22A-2A60-5189-6504-3462FC613127}"/>
              </a:ext>
            </a:extLst>
          </p:cNvPr>
          <p:cNvSpPr txBox="1"/>
          <p:nvPr/>
        </p:nvSpPr>
        <p:spPr>
          <a:xfrm>
            <a:off x="3344092" y="3774418"/>
            <a:ext cx="49377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{"forecast":[{"</a:t>
            </a:r>
            <a:r>
              <a:rPr lang="ko-KR" altLang="en-US" dirty="0"/>
              <a:t>안녕하세요</a:t>
            </a:r>
            <a:r>
              <a:rPr lang="en-US" altLang="ko-KR" dirty="0"/>
              <a:t>! </a:t>
            </a:r>
            <a:r>
              <a:rPr lang="ko-KR" altLang="en-US" dirty="0"/>
              <a:t>무엇을 도와드릴까요</a:t>
            </a:r>
            <a:r>
              <a:rPr lang="en-US" altLang="ko-KR" dirty="0"/>
              <a:t>? </a:t>
            </a:r>
            <a:r>
              <a:rPr lang="ko-KR" altLang="en-US" dirty="0"/>
              <a:t>😊 궁금한 점이 있거나 필요한 정보가 있다면 편하게 말씀해주세요</a:t>
            </a:r>
            <a:r>
              <a:rPr lang="en-US" altLang="ko-KR" dirty="0"/>
              <a:t>."}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020654-799A-1E34-4B64-24333D204A0F}"/>
              </a:ext>
            </a:extLst>
          </p:cNvPr>
          <p:cNvSpPr txBox="1"/>
          <p:nvPr/>
        </p:nvSpPr>
        <p:spPr>
          <a:xfrm>
            <a:off x="4171952" y="311146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chemeClr val="bg1"/>
                </a:solidFill>
              </a:rPr>
              <a:t>예측값</a:t>
            </a:r>
            <a:r>
              <a:rPr lang="ko-KR" altLang="en-US" dirty="0">
                <a:solidFill>
                  <a:schemeClr val="bg1"/>
                </a:solidFill>
              </a:rPr>
              <a:t> 반환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C32570-8FEC-D04A-3598-81AE24121323}"/>
              </a:ext>
            </a:extLst>
          </p:cNvPr>
          <p:cNvSpPr/>
          <p:nvPr/>
        </p:nvSpPr>
        <p:spPr>
          <a:xfrm>
            <a:off x="6365966" y="2277928"/>
            <a:ext cx="1367245" cy="6792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Ngrok</a:t>
            </a:r>
            <a:r>
              <a:rPr lang="ko-KR" altLang="en-US" dirty="0"/>
              <a:t>용</a:t>
            </a:r>
            <a:endParaRPr lang="en-US" altLang="ko-KR" dirty="0"/>
          </a:p>
          <a:p>
            <a:pPr algn="ctr"/>
            <a:r>
              <a:rPr lang="en-US" altLang="ko-KR" dirty="0"/>
              <a:t>Flask </a:t>
            </a:r>
            <a:r>
              <a:rPr lang="ko-KR" altLang="en-US" dirty="0"/>
              <a:t>서버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CF866B2-C3CB-37A5-63A4-36D3F64146D4}"/>
              </a:ext>
            </a:extLst>
          </p:cNvPr>
          <p:cNvSpPr/>
          <p:nvPr/>
        </p:nvSpPr>
        <p:spPr>
          <a:xfrm>
            <a:off x="7809412" y="2372033"/>
            <a:ext cx="1271451" cy="4295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 port</a:t>
            </a:r>
            <a:r>
              <a:rPr lang="ko-KR" altLang="en-US" sz="1400" dirty="0" err="1"/>
              <a:t>열어줌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0EC75F-653B-C334-53CF-130038501972}"/>
              </a:ext>
            </a:extLst>
          </p:cNvPr>
          <p:cNvSpPr/>
          <p:nvPr/>
        </p:nvSpPr>
        <p:spPr>
          <a:xfrm>
            <a:off x="9080862" y="2372033"/>
            <a:ext cx="672737" cy="110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flask</a:t>
            </a:r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6E28B5E-2346-AA22-7382-18ED2BDBF732}"/>
              </a:ext>
            </a:extLst>
          </p:cNvPr>
          <p:cNvSpPr/>
          <p:nvPr/>
        </p:nvSpPr>
        <p:spPr>
          <a:xfrm>
            <a:off x="9784079" y="2479504"/>
            <a:ext cx="200296" cy="276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452D4BE-585D-797D-958D-BFB7194B28E6}"/>
              </a:ext>
            </a:extLst>
          </p:cNvPr>
          <p:cNvSpPr/>
          <p:nvPr/>
        </p:nvSpPr>
        <p:spPr>
          <a:xfrm rot="10800000">
            <a:off x="9784079" y="2990489"/>
            <a:ext cx="200296" cy="276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BE0429-FCF3-4368-1514-AEF72D21AE1F}"/>
              </a:ext>
            </a:extLst>
          </p:cNvPr>
          <p:cNvCxnSpPr>
            <a:cxnSpLocks/>
          </p:cNvCxnSpPr>
          <p:nvPr/>
        </p:nvCxnSpPr>
        <p:spPr>
          <a:xfrm>
            <a:off x="7733211" y="2957160"/>
            <a:ext cx="1557746" cy="1463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74C805A-56FC-1317-CC2D-2394EF17EB21}"/>
              </a:ext>
            </a:extLst>
          </p:cNvPr>
          <p:cNvSpPr/>
          <p:nvPr/>
        </p:nvSpPr>
        <p:spPr>
          <a:xfrm>
            <a:off x="9397061" y="5933860"/>
            <a:ext cx="2525485" cy="775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Kakao talk</a:t>
            </a:r>
            <a:endParaRPr lang="ko-KR" altLang="en-US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F0A5228-4081-51ED-A275-94D26BA5E18E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9884227" y="1818844"/>
            <a:ext cx="544287" cy="660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7FAB83F-E90E-BD50-87D9-9943F7E02E7D}"/>
              </a:ext>
            </a:extLst>
          </p:cNvPr>
          <p:cNvSpPr txBox="1"/>
          <p:nvPr/>
        </p:nvSpPr>
        <p:spPr>
          <a:xfrm>
            <a:off x="10327384" y="1366058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.bat</a:t>
            </a:r>
            <a:r>
              <a:rPr lang="ko-KR" altLang="en-US" dirty="0"/>
              <a:t>실행</a:t>
            </a:r>
            <a:endParaRPr lang="en-US" altLang="ko-KR" dirty="0"/>
          </a:p>
          <a:p>
            <a:r>
              <a:rPr lang="ko-KR" altLang="en-US" dirty="0"/>
              <a:t>가상환경 실행 및</a:t>
            </a:r>
            <a:endParaRPr lang="en-US" altLang="ko-KR" dirty="0"/>
          </a:p>
          <a:p>
            <a:r>
              <a:rPr lang="ko-KR" altLang="en-US" dirty="0"/>
              <a:t>코드실행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6B4791-5055-F59F-C96B-558E70F161A0}"/>
              </a:ext>
            </a:extLst>
          </p:cNvPr>
          <p:cNvSpPr txBox="1"/>
          <p:nvPr/>
        </p:nvSpPr>
        <p:spPr>
          <a:xfrm>
            <a:off x="8551817" y="3774418"/>
            <a:ext cx="274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시간마다 </a:t>
            </a:r>
            <a:r>
              <a:rPr lang="en-US" altLang="ko-KR" dirty="0" err="1"/>
              <a:t>ip</a:t>
            </a:r>
            <a:r>
              <a:rPr lang="ko-KR" altLang="en-US" dirty="0"/>
              <a:t>주소가 변함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48000EC-DBA3-CC9D-335E-C0CA14899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364" y="4575570"/>
            <a:ext cx="1590017" cy="2259497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537557-0C79-E83B-5274-694260383949}"/>
              </a:ext>
            </a:extLst>
          </p:cNvPr>
          <p:cNvSpPr/>
          <p:nvPr/>
        </p:nvSpPr>
        <p:spPr>
          <a:xfrm>
            <a:off x="9397061" y="4315450"/>
            <a:ext cx="2525485" cy="775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Kakao talk token </a:t>
            </a:r>
            <a:r>
              <a:rPr lang="ko-KR" altLang="en-US" dirty="0"/>
              <a:t>받는 </a:t>
            </a:r>
            <a:r>
              <a:rPr lang="en-US" altLang="ko-KR" dirty="0"/>
              <a:t>flask </a:t>
            </a:r>
            <a:r>
              <a:rPr lang="ko-KR" altLang="en-US" dirty="0"/>
              <a:t>서버</a:t>
            </a:r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598E3C49-CDB8-BBE7-5574-54A97D927A7F}"/>
              </a:ext>
            </a:extLst>
          </p:cNvPr>
          <p:cNvSpPr/>
          <p:nvPr/>
        </p:nvSpPr>
        <p:spPr>
          <a:xfrm>
            <a:off x="9753599" y="5225143"/>
            <a:ext cx="443157" cy="6357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F105AE-78A0-8051-EAEB-BF60C41B6185}"/>
              </a:ext>
            </a:extLst>
          </p:cNvPr>
          <p:cNvSpPr txBox="1"/>
          <p:nvPr/>
        </p:nvSpPr>
        <p:spPr>
          <a:xfrm>
            <a:off x="10233862" y="5301152"/>
            <a:ext cx="133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Token </a:t>
            </a:r>
            <a:r>
              <a:rPr lang="ko-KR" altLang="en-US" dirty="0"/>
              <a:t>발급</a:t>
            </a:r>
          </a:p>
        </p:txBody>
      </p:sp>
    </p:spTree>
    <p:extLst>
      <p:ext uri="{BB962C8B-B14F-4D97-AF65-F5344CB8AC3E}">
        <p14:creationId xmlns:p14="http://schemas.microsoft.com/office/powerpoint/2010/main" val="1227223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AD4DE-AFEF-A5F7-9FE0-E496BD1C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카카오톡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573370E-991D-269D-D60C-E14463FF3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64973" y="1825624"/>
            <a:ext cx="3462495" cy="4920389"/>
          </a:xfrm>
        </p:spPr>
      </p:pic>
    </p:spTree>
    <p:extLst>
      <p:ext uri="{BB962C8B-B14F-4D97-AF65-F5344CB8AC3E}">
        <p14:creationId xmlns:p14="http://schemas.microsoft.com/office/powerpoint/2010/main" val="3474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2F08A-0768-88BC-FD9A-72FC59B8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보내는 </a:t>
            </a:r>
            <a:r>
              <a:rPr lang="en-US" altLang="ko-KR" dirty="0"/>
              <a:t>curl </a:t>
            </a:r>
            <a:r>
              <a:rPr lang="ko-KR" altLang="en-US" dirty="0"/>
              <a:t>값 양식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2B9378-BE86-0C71-4913-6F5A34213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curl -X POST https://b47b821e9132.ngrok-free.app/run-forecast -H "Content-Type: application/</a:t>
            </a:r>
            <a:r>
              <a:rPr lang="en-US" altLang="ko-KR" dirty="0" err="1"/>
              <a:t>json</a:t>
            </a:r>
            <a:r>
              <a:rPr lang="en-US" altLang="ko-KR" dirty="0"/>
              <a:t>" -d "{\"</a:t>
            </a:r>
            <a:r>
              <a:rPr lang="en-US" altLang="ko-KR" dirty="0" err="1"/>
              <a:t>string_value</a:t>
            </a:r>
            <a:r>
              <a:rPr lang="en-US" altLang="ko-KR" dirty="0"/>
              <a:t>\":\"</a:t>
            </a:r>
            <a:r>
              <a:rPr lang="ko-KR" altLang="en-US" dirty="0"/>
              <a:t>설명을 </a:t>
            </a:r>
            <a:r>
              <a:rPr lang="ko-KR" altLang="en-US" dirty="0" err="1"/>
              <a:t>할때</a:t>
            </a:r>
            <a:r>
              <a:rPr lang="ko-KR" altLang="en-US" dirty="0"/>
              <a:t> 영어를 최대한 활용해줘</a:t>
            </a:r>
            <a:r>
              <a:rPr lang="en-US" altLang="ko-KR" dirty="0"/>
              <a:t>\"}"</a:t>
            </a:r>
          </a:p>
          <a:p>
            <a:r>
              <a:rPr lang="en-US" altLang="ko-KR" dirty="0"/>
              <a:t>https://b47b821e9132.ngrok-free.app/run-forecast </a:t>
            </a:r>
            <a:r>
              <a:rPr lang="ko-KR" altLang="en-US" dirty="0"/>
              <a:t>를 </a:t>
            </a:r>
            <a:r>
              <a:rPr lang="en-US" altLang="ko-KR" dirty="0"/>
              <a:t>grok</a:t>
            </a:r>
            <a:r>
              <a:rPr lang="ko-KR" altLang="en-US" dirty="0"/>
              <a:t>에서 받은 </a:t>
            </a:r>
            <a:r>
              <a:rPr lang="en-US" altLang="ko-KR" dirty="0" err="1"/>
              <a:t>ip</a:t>
            </a:r>
            <a:r>
              <a:rPr lang="en-US" altLang="ko-KR" dirty="0"/>
              <a:t> </a:t>
            </a:r>
            <a:r>
              <a:rPr lang="ko-KR" altLang="en-US" dirty="0"/>
              <a:t>주소로 변경</a:t>
            </a:r>
            <a:r>
              <a:rPr lang="en-US" altLang="ko-KR" dirty="0"/>
              <a:t>, </a:t>
            </a:r>
            <a:r>
              <a:rPr lang="ko-KR" altLang="en-US" dirty="0"/>
              <a:t>설명을 </a:t>
            </a:r>
            <a:r>
              <a:rPr lang="ko-KR" altLang="en-US" dirty="0" err="1"/>
              <a:t>할때</a:t>
            </a:r>
            <a:r>
              <a:rPr lang="ko-KR" altLang="en-US" dirty="0"/>
              <a:t> 영어를 최대한 활용해줘 은 넣고 싶은 프롬프트</a:t>
            </a:r>
            <a:endParaRPr lang="en-US" altLang="ko-KR" dirty="0"/>
          </a:p>
          <a:p>
            <a:r>
              <a:rPr lang="en-US" altLang="ko-KR" dirty="0" err="1"/>
              <a:t>Sys.argv</a:t>
            </a:r>
            <a:r>
              <a:rPr lang="en-US" altLang="ko-KR" dirty="0"/>
              <a:t>[0]</a:t>
            </a:r>
            <a:r>
              <a:rPr lang="ko-KR" altLang="en-US" dirty="0"/>
              <a:t>에 넣은 프롬프트가 </a:t>
            </a:r>
            <a:r>
              <a:rPr lang="ko-KR" altLang="en-US" dirty="0" err="1"/>
              <a:t>들어감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4D48C1-DF43-A5D1-F9D3-043AD4F1C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147" y="4864100"/>
            <a:ext cx="8734425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192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DBA30-2DB6-D3C2-3F7E-D79688405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외부망에서 확인</a:t>
            </a:r>
          </a:p>
        </p:txBody>
      </p:sp>
      <p:pic>
        <p:nvPicPr>
          <p:cNvPr id="7" name="그림 6" descr="텍스트, 스크린샷, 흑백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F16262-0680-F32F-90DE-BEF3BEA02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385" y="1463040"/>
            <a:ext cx="2489982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94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565</Words>
  <Application>Microsoft Office PowerPoint</Application>
  <PresentationFormat>와이드스크린</PresentationFormat>
  <Paragraphs>74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1" baseType="lpstr">
      <vt:lpstr>맑은 고딕</vt:lpstr>
      <vt:lpstr>Arial</vt:lpstr>
      <vt:lpstr>Office 테마</vt:lpstr>
      <vt:lpstr>어뢰낸을 이겨낸 엘엔앰</vt:lpstr>
      <vt:lpstr>목차</vt:lpstr>
      <vt:lpstr>PowerPoint 프레젠테이션</vt:lpstr>
      <vt:lpstr>동영상 장면 변환 탐지 기반으로 강의 동영상 페이지 변환 인식 개선 보충할 점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</vt:lpstr>
      <vt:lpstr>대사 스크립트와 강의 교안을 gemma3:12b에 넣고 요약 취약점 (매우 길때)</vt:lpstr>
      <vt:lpstr>대사 스크립트와 강의 교안을 gemma3:12b에 넣고 요약 취약점 (매우 길때)</vt:lpstr>
      <vt:lpstr>Work flow</vt:lpstr>
      <vt:lpstr>카카오톡</vt:lpstr>
      <vt:lpstr>보내는 curl 값 양식</vt:lpstr>
      <vt:lpstr>외부망에서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임홍철</dc:creator>
  <cp:lastModifiedBy>임홍철</cp:lastModifiedBy>
  <cp:revision>1</cp:revision>
  <dcterms:created xsi:type="dcterms:W3CDTF">2025-07-22T16:11:34Z</dcterms:created>
  <dcterms:modified xsi:type="dcterms:W3CDTF">2025-07-22T18:33:57Z</dcterms:modified>
</cp:coreProperties>
</file>